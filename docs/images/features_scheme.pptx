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5753"/>
    <a:srgbClr val="F6F9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94"/>
  </p:normalViewPr>
  <p:slideViewPr>
    <p:cSldViewPr snapToGrid="0">
      <p:cViewPr>
        <p:scale>
          <a:sx n="100" d="100"/>
          <a:sy n="100" d="100"/>
        </p:scale>
        <p:origin x="103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B6E08-E0AD-3332-B839-99CCFEA68D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2BF7AA-87BE-56C7-BDE3-D65D4A3C4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80EA6-3C6D-F2C1-8BF1-5A855CC8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266E-D89B-2FF4-4BB0-B59C3E073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C1F44-2925-3E57-2CD1-CD6926BCF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622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C7734-5D48-3275-7464-182C0C66F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1F6EC-76B3-9307-375B-54F4FF839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B29F5-447F-945E-9535-D1A040B81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00C81-CF28-9BA5-418F-D4B9C7851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74AC5-16C8-07CD-6837-0AA3CC63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1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F07B3-F5E1-24B8-6805-65F6AE2EE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7BA24-CF56-651E-1AA8-9FC6A4DF37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8FE120-B6A4-EC38-83A2-4EF0EA7B7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F446B-928E-A56D-2B5E-112D24F99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3ADEC-993D-752D-AB36-A518B43FE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30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499CF-C009-BD06-57A9-AB393062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47D87-FD44-A6F1-7F97-1DC09621B6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AE287-5411-AE4A-F65F-9EEB9FB31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47CFAF-0630-EC86-EDFB-6F3228D56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FFBE7-ACBA-E08A-D031-815791B66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24EC1-0848-2868-47C2-7630FE201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70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D38CE-5A30-29C8-52B7-565E7920B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5161B-7B12-2181-5022-0BFAD7A210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1E9488-8B72-560A-EB6C-57CED88F3C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3E427C-50A4-BC7C-D95F-27227ECB0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A1F60D-ED55-C896-90D1-8251D7706E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8E13C7-B34F-6F3E-7C4D-AFA8C316F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7226D9-5A4F-726E-25BC-BAC43259E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FAF193-37F4-B6AC-492A-7FF6D03C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74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2533C-DE29-3283-4A6A-C9ED0CA75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8DE02-E43E-F4E1-951B-85E83622D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2D9E09-3D5A-2374-A10E-5818B6255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B1027-D1CC-8B87-E930-6820FB8F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335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00C840-D56F-C764-7172-717494BFB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7F3E4F-30B4-2E8E-EA0C-768663F8D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F75B7-F02D-07D2-86BB-D840086C9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117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2B81A-D5D6-7BBA-4224-BE6F62C23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F7151-67BB-5BB5-3786-3C1EBCC45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8E6EC5-9A5D-7BB2-CDFF-C3818CC57F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97F1E1-2510-1954-40A6-E705CE335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B3A04-5FFC-263E-4751-9BD0A1D00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4A0D8-BD0A-BFEC-E403-1BB26FFC4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74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855BD-3364-AE4E-367E-6ADD2D9AB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D2D22F-57F1-6320-1EEE-D9EAF9CFF6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E30F37-F771-53D5-AEAC-AE9CF198A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BBF4D-D1CF-9279-FA82-08C7EAA15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B71AB8-6CB4-65C7-21D6-0A0655BD1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86866-06E1-3AEF-40EE-1B3285D4E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735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D0143-86B7-B3DC-0E6D-5AD2CB29A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BE4D6-90A8-5CA3-D588-235B75B98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DDC93-E817-7FF0-0A96-B6DBEED5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C6469-69B9-D934-EEAD-D5E49F2A1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A4EA9-981D-9BC7-E9BF-13F0A0675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58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20D9AC-577E-8478-F265-7708943F53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0326B-9C5C-3550-8094-7D4EAC328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E3EE3-6733-57EC-168F-E0A3B29D4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FDDEA-11DA-31A3-33E5-DC4E39547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7E170-A736-84C3-68FC-73258874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766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5B49CA-5F74-991B-1959-A918A1D4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2714FA-1820-F8B3-B037-200821BA8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67F12-7180-7A8C-519D-2D683FF035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DE8E8D-287D-9E49-A39E-FC5F6547F89F}" type="datetimeFigureOut"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7DB1FB-E1E3-B9F5-5CFB-B6388117C2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07765D-3237-41B3-A62C-BB6F2EC4C1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A9ED5D-7A99-6748-B57E-A10C7254C9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231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97695A3-25CE-65AE-3634-D556E4DDC512}"/>
              </a:ext>
            </a:extLst>
          </p:cNvPr>
          <p:cNvGrpSpPr/>
          <p:nvPr/>
        </p:nvGrpSpPr>
        <p:grpSpPr>
          <a:xfrm>
            <a:off x="567815" y="236593"/>
            <a:ext cx="10246809" cy="5722795"/>
            <a:chOff x="567815" y="236593"/>
            <a:chExt cx="10246809" cy="572279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EE1E50ED-37C0-4ABD-2A9F-0290ACA2CB3F}"/>
                </a:ext>
              </a:extLst>
            </p:cNvPr>
            <p:cNvSpPr/>
            <p:nvPr/>
          </p:nvSpPr>
          <p:spPr>
            <a:xfrm>
              <a:off x="2948915" y="1321298"/>
              <a:ext cx="2651760" cy="777240"/>
            </a:xfrm>
            <a:prstGeom prst="roundRect">
              <a:avLst/>
            </a:prstGeom>
            <a:solidFill>
              <a:srgbClr val="F6F9FB"/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Pangenome Synteny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synteny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1F5F3E88-F3C5-77DC-214D-787ECA438754}"/>
                </a:ext>
              </a:extLst>
            </p:cNvPr>
            <p:cNvSpPr/>
            <p:nvPr/>
          </p:nvSpPr>
          <p:spPr>
            <a:xfrm>
              <a:off x="2948915" y="2608248"/>
              <a:ext cx="2651760" cy="777240"/>
            </a:xfrm>
            <a:prstGeom prst="roundRect">
              <a:avLst/>
            </a:prstGeom>
            <a:solidFill>
              <a:srgbClr val="F6F9FB"/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Consensus Sequences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consensus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B64FA1F-E021-F169-42A8-482B201F2C2C}"/>
                </a:ext>
              </a:extLst>
            </p:cNvPr>
            <p:cNvSpPr/>
            <p:nvPr/>
          </p:nvSpPr>
          <p:spPr>
            <a:xfrm>
              <a:off x="2028172" y="3895198"/>
              <a:ext cx="1645920" cy="777240"/>
            </a:xfrm>
            <a:prstGeom prst="roundRect">
              <a:avLst/>
            </a:prstGeom>
            <a:solidFill>
              <a:srgbClr val="00B050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SNPs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snp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5944560-F314-C765-500F-9B200FCBEC33}"/>
                </a:ext>
              </a:extLst>
            </p:cNvPr>
            <p:cNvSpPr/>
            <p:nvPr/>
          </p:nvSpPr>
          <p:spPr>
            <a:xfrm>
              <a:off x="5273040" y="3895198"/>
              <a:ext cx="1645920" cy="777240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SVs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sv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FBC71EE-866F-70B7-4E83-995557496857}"/>
                </a:ext>
              </a:extLst>
            </p:cNvPr>
            <p:cNvSpPr/>
            <p:nvPr/>
          </p:nvSpPr>
          <p:spPr>
            <a:xfrm>
              <a:off x="6719514" y="1308513"/>
              <a:ext cx="2651760" cy="77724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Gene annotation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annogroup &lt;path&gt;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93D01C2-6369-168D-AFD0-720D52F4B3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49941" y="906423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898444-923F-98FD-D5A1-7FDB9A8D79E7}"/>
                </a:ext>
              </a:extLst>
            </p:cNvPr>
            <p:cNvCxnSpPr>
              <a:cxnSpLocks/>
            </p:cNvCxnSpPr>
            <p:nvPr/>
          </p:nvCxnSpPr>
          <p:spPr>
            <a:xfrm>
              <a:off x="4152032" y="2188916"/>
              <a:ext cx="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F4BC3C7-E413-B3C0-5498-6D84E1C18E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9358" y="3495553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E407CEE-5F20-8C1A-A063-66353F37DCBF}"/>
                </a:ext>
              </a:extLst>
            </p:cNvPr>
            <p:cNvCxnSpPr>
              <a:cxnSpLocks/>
            </p:cNvCxnSpPr>
            <p:nvPr/>
          </p:nvCxnSpPr>
          <p:spPr>
            <a:xfrm>
              <a:off x="5325512" y="3495553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607133C-9A48-7C4A-47C4-D98F2BD879AE}"/>
                </a:ext>
              </a:extLst>
            </p:cNvPr>
            <p:cNvSpPr/>
            <p:nvPr/>
          </p:nvSpPr>
          <p:spPr>
            <a:xfrm>
              <a:off x="4621341" y="236593"/>
              <a:ext cx="2651760" cy="550279"/>
            </a:xfrm>
            <a:prstGeom prst="roundRect">
              <a:avLst/>
            </a:prstGeom>
            <a:noFill/>
            <a:ln w="38100">
              <a:solidFill>
                <a:schemeClr val="bg1">
                  <a:lumMod val="75000"/>
                </a:schemeClr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</a:rPr>
                <a:t>Alignment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57BB9FE5-B838-CD67-BD0A-5A490496679F}"/>
                    </a:ext>
                  </a:extLst>
                </p:cNvPr>
                <p:cNvSpPr/>
                <p:nvPr/>
              </p:nvSpPr>
              <p:spPr>
                <a:xfrm>
                  <a:off x="1195081" y="5182148"/>
                  <a:ext cx="1645920" cy="777240"/>
                </a:xfrm>
                <a:prstGeom prst="roundRect">
                  <a:avLst/>
                </a:prstGeom>
                <a:solidFill>
                  <a:srgbClr val="00B050">
                    <a:alpha val="20000"/>
                  </a:srgbClr>
                </a:solidFill>
                <a:ln w="38100">
                  <a:solidFill>
                    <a:srgbClr val="0C5753"/>
                  </a:solidFill>
                  <a:headEnd type="triangle"/>
                  <a:tailEnd type="none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ru-RU">
                          <a:solidFill>
                            <a:srgbClr val="0C5753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>
                      <a:solidFill>
                        <a:srgbClr val="0C5753"/>
                      </a:solidFill>
                    </a:rPr>
                    <a:t>-diversity</a:t>
                  </a:r>
                </a:p>
                <a:p>
                  <a:pPr algn="ctr"/>
                  <a:r>
                    <a:rPr lang="ru-RU">
                      <a:solidFill>
                        <a:srgbClr val="0C5753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-</a:t>
                  </a:r>
                  <a:r>
                    <a:rPr lang="en-US">
                      <a:solidFill>
                        <a:srgbClr val="0C5753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snp_pi</a:t>
                  </a:r>
                </a:p>
              </p:txBody>
            </p:sp>
          </mc:Choice>
          <mc:Fallback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57BB9FE5-B838-CD67-BD0A-5A49049667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5081" y="5182148"/>
                  <a:ext cx="1645920" cy="777240"/>
                </a:xfrm>
                <a:prstGeom prst="roundRect">
                  <a:avLst/>
                </a:prstGeom>
                <a:blipFill>
                  <a:blip r:embed="rId2"/>
                  <a:stretch>
                    <a:fillRect b="-1538"/>
                  </a:stretch>
                </a:blipFill>
                <a:ln w="38100">
                  <a:solidFill>
                    <a:srgbClr val="0C5753"/>
                  </a:solidFill>
                  <a:headEnd type="triangle"/>
                  <a:tailEnd type="none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865C39BD-51F7-5946-E424-3469BCEB1EB6}"/>
                </a:ext>
              </a:extLst>
            </p:cNvPr>
            <p:cNvSpPr/>
            <p:nvPr/>
          </p:nvSpPr>
          <p:spPr>
            <a:xfrm>
              <a:off x="3935541" y="5182148"/>
              <a:ext cx="2011680" cy="777240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SV Families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sv_family</a:t>
              </a: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4B384A36-955E-5B5F-DC87-0EA234F932A6}"/>
                </a:ext>
              </a:extLst>
            </p:cNvPr>
            <p:cNvSpPr/>
            <p:nvPr/>
          </p:nvSpPr>
          <p:spPr>
            <a:xfrm>
              <a:off x="6526530" y="5182148"/>
              <a:ext cx="2011680" cy="777240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ORFs in SVs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sv_orf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718935D-5F56-FB0B-1EC7-C70F6D0CB539}"/>
                </a:ext>
              </a:extLst>
            </p:cNvPr>
            <p:cNvSpPr/>
            <p:nvPr/>
          </p:nvSpPr>
          <p:spPr>
            <a:xfrm>
              <a:off x="7512068" y="3677604"/>
              <a:ext cx="2651760" cy="1219299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Compare SVs with other Sequences</a:t>
              </a:r>
            </a:p>
            <a:p>
              <a:pPr algn="ctr"/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-sv_sim &lt;file&gt;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CF1E461-78A4-C9FA-D2B1-7C78EC1863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76208" y="4787000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B640A2-720F-1800-00D5-55DF7CEB81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86711" y="4760678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E028FB4-0C82-4FBD-D0C3-16989E514082}"/>
                </a:ext>
              </a:extLst>
            </p:cNvPr>
            <p:cNvCxnSpPr>
              <a:cxnSpLocks/>
            </p:cNvCxnSpPr>
            <p:nvPr/>
          </p:nvCxnSpPr>
          <p:spPr>
            <a:xfrm>
              <a:off x="6740760" y="4752822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21FA6A1-94A6-2570-9C2C-295ABD99449E}"/>
                </a:ext>
              </a:extLst>
            </p:cNvPr>
            <p:cNvCxnSpPr>
              <a:cxnSpLocks/>
            </p:cNvCxnSpPr>
            <p:nvPr/>
          </p:nvCxnSpPr>
          <p:spPr>
            <a:xfrm>
              <a:off x="6984393" y="4287254"/>
              <a:ext cx="445891" cy="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EB62807-4DEF-F41B-0920-67957AEC6406}"/>
                </a:ext>
              </a:extLst>
            </p:cNvPr>
            <p:cNvCxnSpPr>
              <a:cxnSpLocks/>
            </p:cNvCxnSpPr>
            <p:nvPr/>
          </p:nvCxnSpPr>
          <p:spPr>
            <a:xfrm>
              <a:off x="6892169" y="855337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Left Bracket 1">
              <a:extLst>
                <a:ext uri="{FF2B5EF4-FFF2-40B4-BE49-F238E27FC236}">
                  <a16:creationId xmlns:a16="http://schemas.microsoft.com/office/drawing/2014/main" id="{779994F3-CE3E-0B5E-35CE-5B8419CA044F}"/>
                </a:ext>
              </a:extLst>
            </p:cNvPr>
            <p:cNvSpPr/>
            <p:nvPr/>
          </p:nvSpPr>
          <p:spPr>
            <a:xfrm>
              <a:off x="2400299" y="1321298"/>
              <a:ext cx="173343" cy="2064190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6724562-4A74-B8D6-CC39-C4BAFA62675A}"/>
                </a:ext>
              </a:extLst>
            </p:cNvPr>
            <p:cNvSpPr txBox="1"/>
            <p:nvPr/>
          </p:nvSpPr>
          <p:spPr>
            <a:xfrm rot="16200000">
              <a:off x="1074447" y="2164270"/>
              <a:ext cx="22015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bg1">
                      <a:lumMod val="65000"/>
                    </a:schemeClr>
                  </a:solidFill>
                </a:rPr>
                <a:t>Alignment Summary</a:t>
              </a:r>
            </a:p>
          </p:txBody>
        </p:sp>
        <p:sp>
          <p:nvSpPr>
            <p:cNvPr id="10" name="Left Bracket 9">
              <a:extLst>
                <a:ext uri="{FF2B5EF4-FFF2-40B4-BE49-F238E27FC236}">
                  <a16:creationId xmlns:a16="http://schemas.microsoft.com/office/drawing/2014/main" id="{599AA03E-8FFE-0834-FF1C-C53B1B29607B}"/>
                </a:ext>
              </a:extLst>
            </p:cNvPr>
            <p:cNvSpPr/>
            <p:nvPr/>
          </p:nvSpPr>
          <p:spPr>
            <a:xfrm>
              <a:off x="939954" y="3895198"/>
              <a:ext cx="173343" cy="2064190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9233ABC-5BA2-C3BD-1079-469C47588D0F}"/>
                </a:ext>
              </a:extLst>
            </p:cNvPr>
            <p:cNvSpPr txBox="1"/>
            <p:nvPr/>
          </p:nvSpPr>
          <p:spPr>
            <a:xfrm rot="16200000">
              <a:off x="60656" y="4728176"/>
              <a:ext cx="13836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</a:rPr>
                <a:t>SNP-related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B4E01A54-3290-CA7E-A5AE-7F694B63BAA2}"/>
                </a:ext>
              </a:extLst>
            </p:cNvPr>
            <p:cNvSpPr/>
            <p:nvPr/>
          </p:nvSpPr>
          <p:spPr>
            <a:xfrm flipH="1">
              <a:off x="10269145" y="3677604"/>
              <a:ext cx="173343" cy="2281784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704E2C2-6882-E886-B360-85E0B3332FCB}"/>
                </a:ext>
              </a:extLst>
            </p:cNvPr>
            <p:cNvSpPr txBox="1"/>
            <p:nvPr/>
          </p:nvSpPr>
          <p:spPr>
            <a:xfrm rot="5400000" flipH="1">
              <a:off x="10021426" y="4617856"/>
              <a:ext cx="12170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</a:rPr>
                <a:t>SV-related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46BCD857-8DAA-8133-2D99-032BB47CA49F}"/>
                </a:ext>
              </a:extLst>
            </p:cNvPr>
            <p:cNvSpPr/>
            <p:nvPr/>
          </p:nvSpPr>
          <p:spPr>
            <a:xfrm flipH="1">
              <a:off x="9585817" y="1321299"/>
              <a:ext cx="173343" cy="777240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14A4F65-AB47-83A2-FFD4-08E10E75DC88}"/>
                </a:ext>
              </a:extLst>
            </p:cNvPr>
            <p:cNvSpPr txBox="1"/>
            <p:nvPr/>
          </p:nvSpPr>
          <p:spPr>
            <a:xfrm rot="5400000" flipH="1">
              <a:off x="9528487" y="1512467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</a:rPr>
                <a:t>Genes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1422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ECCB9-7F0C-5BC9-5744-48123DEA2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7CB19BB-C5F9-4ACF-1BFA-5A54811B8542}"/>
              </a:ext>
            </a:extLst>
          </p:cNvPr>
          <p:cNvGrpSpPr/>
          <p:nvPr/>
        </p:nvGrpSpPr>
        <p:grpSpPr>
          <a:xfrm>
            <a:off x="522290" y="236593"/>
            <a:ext cx="10521089" cy="5722795"/>
            <a:chOff x="522290" y="236593"/>
            <a:chExt cx="10521089" cy="572279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B3082F97-5C8B-9360-958D-6EFD89306980}"/>
                </a:ext>
              </a:extLst>
            </p:cNvPr>
            <p:cNvSpPr/>
            <p:nvPr/>
          </p:nvSpPr>
          <p:spPr>
            <a:xfrm>
              <a:off x="2948915" y="1321298"/>
              <a:ext cx="2651760" cy="777240"/>
            </a:xfrm>
            <a:prstGeom prst="roundRect">
              <a:avLst/>
            </a:prstGeom>
            <a:solidFill>
              <a:srgbClr val="F6F9FB"/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Pangenome Synteny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synteny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C42A71C-E12A-0448-B3B8-B5F0C2375BC2}"/>
                </a:ext>
              </a:extLst>
            </p:cNvPr>
            <p:cNvSpPr/>
            <p:nvPr/>
          </p:nvSpPr>
          <p:spPr>
            <a:xfrm>
              <a:off x="2948915" y="2608248"/>
              <a:ext cx="2651760" cy="777240"/>
            </a:xfrm>
            <a:prstGeom prst="roundRect">
              <a:avLst/>
            </a:prstGeom>
            <a:solidFill>
              <a:srgbClr val="F6F9FB"/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Consensus Sequences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consensus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A9D80C1-0F4D-724A-BBBE-FBC1671193DB}"/>
                </a:ext>
              </a:extLst>
            </p:cNvPr>
            <p:cNvSpPr/>
            <p:nvPr/>
          </p:nvSpPr>
          <p:spPr>
            <a:xfrm>
              <a:off x="2028172" y="3895198"/>
              <a:ext cx="1645920" cy="777240"/>
            </a:xfrm>
            <a:prstGeom prst="roundRect">
              <a:avLst/>
            </a:prstGeom>
            <a:solidFill>
              <a:srgbClr val="00B050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SNPs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snp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968B106-BD4B-3318-BF3E-FAB60D6F1D16}"/>
                </a:ext>
              </a:extLst>
            </p:cNvPr>
            <p:cNvSpPr/>
            <p:nvPr/>
          </p:nvSpPr>
          <p:spPr>
            <a:xfrm>
              <a:off x="5273040" y="3895198"/>
              <a:ext cx="1645920" cy="777240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SVs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sv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6C47B8A7-C48B-9793-7564-71682A09B893}"/>
                </a:ext>
              </a:extLst>
            </p:cNvPr>
            <p:cNvSpPr/>
            <p:nvPr/>
          </p:nvSpPr>
          <p:spPr>
            <a:xfrm>
              <a:off x="6719514" y="1308513"/>
              <a:ext cx="2651760" cy="77724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Gene annotation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annogroup &lt;path&gt;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15C56D3-5A95-4983-7C1F-E1846BB01A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49941" y="906423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59498FA-5229-2F93-7EEB-1989B6DB7F3C}"/>
                </a:ext>
              </a:extLst>
            </p:cNvPr>
            <p:cNvCxnSpPr>
              <a:cxnSpLocks/>
            </p:cNvCxnSpPr>
            <p:nvPr/>
          </p:nvCxnSpPr>
          <p:spPr>
            <a:xfrm>
              <a:off x="4152032" y="2188916"/>
              <a:ext cx="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3E6A40E-5325-3A90-7A21-9825DC2561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9358" y="3495553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ADB1358-4EA4-4BA7-B7D7-5856DCEA1374}"/>
                </a:ext>
              </a:extLst>
            </p:cNvPr>
            <p:cNvCxnSpPr>
              <a:cxnSpLocks/>
            </p:cNvCxnSpPr>
            <p:nvPr/>
          </p:nvCxnSpPr>
          <p:spPr>
            <a:xfrm>
              <a:off x="5325512" y="3495553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C6C65436-1AD3-C815-8A03-A3BE542E6642}"/>
                </a:ext>
              </a:extLst>
            </p:cNvPr>
            <p:cNvSpPr/>
            <p:nvPr/>
          </p:nvSpPr>
          <p:spPr>
            <a:xfrm>
              <a:off x="4621341" y="236593"/>
              <a:ext cx="2651760" cy="550279"/>
            </a:xfrm>
            <a:prstGeom prst="roundRect">
              <a:avLst/>
            </a:prstGeom>
            <a:noFill/>
            <a:ln w="38100">
              <a:solidFill>
                <a:schemeClr val="bg1">
                  <a:lumMod val="75000"/>
                </a:schemeClr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</a:rPr>
                <a:t>Alignment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36D7D627-C4A2-68B8-AAEC-1800057753AB}"/>
                    </a:ext>
                  </a:extLst>
                </p:cNvPr>
                <p:cNvSpPr/>
                <p:nvPr/>
              </p:nvSpPr>
              <p:spPr>
                <a:xfrm>
                  <a:off x="1195081" y="5182148"/>
                  <a:ext cx="1645920" cy="777240"/>
                </a:xfrm>
                <a:prstGeom prst="roundRect">
                  <a:avLst/>
                </a:prstGeom>
                <a:solidFill>
                  <a:srgbClr val="00B050">
                    <a:alpha val="20000"/>
                  </a:srgbClr>
                </a:solidFill>
                <a:ln w="38100">
                  <a:solidFill>
                    <a:srgbClr val="0C5753"/>
                  </a:solidFill>
                  <a:headEnd type="triangle"/>
                  <a:tailEnd type="none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ru-RU">
                          <a:solidFill>
                            <a:srgbClr val="0C5753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>
                      <a:solidFill>
                        <a:srgbClr val="0C5753"/>
                      </a:solidFill>
                    </a:rPr>
                    <a:t>-diversity</a:t>
                  </a:r>
                </a:p>
                <a:p>
                  <a:pPr algn="ctr"/>
                  <a:r>
                    <a:rPr lang="ru-RU">
                      <a:solidFill>
                        <a:srgbClr val="0C5753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-</a:t>
                  </a:r>
                  <a:r>
                    <a:rPr lang="en-US">
                      <a:solidFill>
                        <a:srgbClr val="0C5753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snp_pi</a:t>
                  </a:r>
                </a:p>
              </p:txBody>
            </p:sp>
          </mc:Choice>
          <mc:Fallback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36D7D627-C4A2-68B8-AAEC-1800057753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5081" y="5182148"/>
                  <a:ext cx="1645920" cy="777240"/>
                </a:xfrm>
                <a:prstGeom prst="roundRect">
                  <a:avLst/>
                </a:prstGeom>
                <a:blipFill>
                  <a:blip r:embed="rId2"/>
                  <a:stretch>
                    <a:fillRect b="-1538"/>
                  </a:stretch>
                </a:blipFill>
                <a:ln w="38100">
                  <a:solidFill>
                    <a:srgbClr val="0C5753"/>
                  </a:solidFill>
                  <a:headEnd type="triangle"/>
                  <a:tailEnd type="none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C9AD6E3F-E2D2-DA5B-68E7-FD1268B123F8}"/>
                </a:ext>
              </a:extLst>
            </p:cNvPr>
            <p:cNvSpPr/>
            <p:nvPr/>
          </p:nvSpPr>
          <p:spPr>
            <a:xfrm>
              <a:off x="3935541" y="5182148"/>
              <a:ext cx="2011680" cy="777240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SV Families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sv_family</a:t>
              </a: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14B81E48-7BF8-6A30-AD80-4CF05473A8DD}"/>
                </a:ext>
              </a:extLst>
            </p:cNvPr>
            <p:cNvSpPr/>
            <p:nvPr/>
          </p:nvSpPr>
          <p:spPr>
            <a:xfrm>
              <a:off x="6526530" y="5182148"/>
              <a:ext cx="2011680" cy="777240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ORFs in SVs</a:t>
              </a:r>
            </a:p>
            <a:p>
              <a:pPr algn="ctr"/>
              <a:r>
                <a:rPr lang="ru-RU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</a:t>
              </a:r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sv_orf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A9F1A3F7-E366-348F-3478-2335AFE419BD}"/>
                </a:ext>
              </a:extLst>
            </p:cNvPr>
            <p:cNvSpPr/>
            <p:nvPr/>
          </p:nvSpPr>
          <p:spPr>
            <a:xfrm>
              <a:off x="7512068" y="3677604"/>
              <a:ext cx="2651760" cy="1219299"/>
            </a:xfrm>
            <a:prstGeom prst="roundRect">
              <a:avLst/>
            </a:prstGeom>
            <a:solidFill>
              <a:srgbClr val="0C5753">
                <a:alpha val="20000"/>
              </a:srgbClr>
            </a:solidFill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rgbClr val="0C5753"/>
                  </a:solidFill>
                </a:rPr>
                <a:t>Compare SVs with other Sequences</a:t>
              </a:r>
            </a:p>
            <a:p>
              <a:pPr algn="ctr"/>
              <a:r>
                <a:rPr lang="en-US">
                  <a:solidFill>
                    <a:srgbClr val="0C575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-sv_sim &lt;file&gt;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53C5D77-57AF-0B48-1FD1-C32F6B66B1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76208" y="4787000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DE50A0-2FDE-7A78-DDFC-D2E7FFB2E5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86711" y="4760678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1438C26-CBC2-C58B-1E7F-A1BB5019063A}"/>
                </a:ext>
              </a:extLst>
            </p:cNvPr>
            <p:cNvCxnSpPr>
              <a:cxnSpLocks/>
            </p:cNvCxnSpPr>
            <p:nvPr/>
          </p:nvCxnSpPr>
          <p:spPr>
            <a:xfrm>
              <a:off x="6740760" y="4752822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3D98C4C-FAF2-957D-5AE9-804259DE462F}"/>
                </a:ext>
              </a:extLst>
            </p:cNvPr>
            <p:cNvCxnSpPr>
              <a:cxnSpLocks/>
            </p:cNvCxnSpPr>
            <p:nvPr/>
          </p:nvCxnSpPr>
          <p:spPr>
            <a:xfrm>
              <a:off x="6984393" y="4287254"/>
              <a:ext cx="445891" cy="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877ED52-7D53-3705-705E-DA5A5432FBDD}"/>
                </a:ext>
              </a:extLst>
            </p:cNvPr>
            <p:cNvCxnSpPr>
              <a:cxnSpLocks/>
            </p:cNvCxnSpPr>
            <p:nvPr/>
          </p:nvCxnSpPr>
          <p:spPr>
            <a:xfrm>
              <a:off x="6892169" y="855337"/>
              <a:ext cx="182880" cy="320040"/>
            </a:xfrm>
            <a:prstGeom prst="straightConnector1">
              <a:avLst/>
            </a:prstGeom>
            <a:ln w="38100">
              <a:solidFill>
                <a:srgbClr val="0C5753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Left Bracket 1">
              <a:extLst>
                <a:ext uri="{FF2B5EF4-FFF2-40B4-BE49-F238E27FC236}">
                  <a16:creationId xmlns:a16="http://schemas.microsoft.com/office/drawing/2014/main" id="{503280E7-E92E-5376-9850-D09C3B9C605A}"/>
                </a:ext>
              </a:extLst>
            </p:cNvPr>
            <p:cNvSpPr/>
            <p:nvPr/>
          </p:nvSpPr>
          <p:spPr>
            <a:xfrm>
              <a:off x="2400299" y="1321298"/>
              <a:ext cx="173343" cy="2064190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EAEF5E-CF40-776A-EC53-1BECA60F5F68}"/>
                </a:ext>
              </a:extLst>
            </p:cNvPr>
            <p:cNvSpPr txBox="1"/>
            <p:nvPr/>
          </p:nvSpPr>
          <p:spPr>
            <a:xfrm>
              <a:off x="2013935" y="2164270"/>
              <a:ext cx="322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>
                  <a:solidFill>
                    <a:schemeClr val="bg1">
                      <a:lumMod val="6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</a:p>
          </p:txBody>
        </p:sp>
        <p:sp>
          <p:nvSpPr>
            <p:cNvPr id="10" name="Left Bracket 9">
              <a:extLst>
                <a:ext uri="{FF2B5EF4-FFF2-40B4-BE49-F238E27FC236}">
                  <a16:creationId xmlns:a16="http://schemas.microsoft.com/office/drawing/2014/main" id="{B0D32B97-F955-7551-5894-A6A0EB2768CC}"/>
                </a:ext>
              </a:extLst>
            </p:cNvPr>
            <p:cNvSpPr/>
            <p:nvPr/>
          </p:nvSpPr>
          <p:spPr>
            <a:xfrm>
              <a:off x="939954" y="3895198"/>
              <a:ext cx="173343" cy="2064190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C294F91-1FEB-411C-3457-5EAC9DDA5D8E}"/>
                </a:ext>
              </a:extLst>
            </p:cNvPr>
            <p:cNvSpPr txBox="1"/>
            <p:nvPr/>
          </p:nvSpPr>
          <p:spPr>
            <a:xfrm>
              <a:off x="522290" y="4728176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6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II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92302FAA-D0C8-6A5C-7B18-9806B965A385}"/>
                </a:ext>
              </a:extLst>
            </p:cNvPr>
            <p:cNvSpPr/>
            <p:nvPr/>
          </p:nvSpPr>
          <p:spPr>
            <a:xfrm flipH="1">
              <a:off x="10269145" y="3677604"/>
              <a:ext cx="173343" cy="2281784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8186B9-1D23-0641-EA59-18E9BB2CC14A}"/>
                </a:ext>
              </a:extLst>
            </p:cNvPr>
            <p:cNvSpPr txBox="1"/>
            <p:nvPr/>
          </p:nvSpPr>
          <p:spPr>
            <a:xfrm flipH="1">
              <a:off x="10445138" y="4617856"/>
              <a:ext cx="5982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6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III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D29392E5-E2D2-9E6E-CCA0-F44D982A330D}"/>
                </a:ext>
              </a:extLst>
            </p:cNvPr>
            <p:cNvSpPr/>
            <p:nvPr/>
          </p:nvSpPr>
          <p:spPr>
            <a:xfrm flipH="1">
              <a:off x="9585817" y="1321299"/>
              <a:ext cx="173343" cy="777240"/>
            </a:xfrm>
            <a:prstGeom prst="leftBracket">
              <a:avLst>
                <a:gd name="adj" fmla="val 137471"/>
              </a:avLst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893CC59-11F9-A3D4-F96F-F79B6FCC49B1}"/>
                </a:ext>
              </a:extLst>
            </p:cNvPr>
            <p:cNvSpPr txBox="1"/>
            <p:nvPr/>
          </p:nvSpPr>
          <p:spPr>
            <a:xfrm flipH="1">
              <a:off x="9713634" y="1512467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6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829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117</Words>
  <Application>Microsoft Macintosh PowerPoint</Application>
  <PresentationFormat>Widescreen</PresentationFormat>
  <Paragraphs>46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Courier New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 Igolkina</dc:creator>
  <cp:lastModifiedBy>Ann Igolkina</cp:lastModifiedBy>
  <cp:revision>4</cp:revision>
  <dcterms:created xsi:type="dcterms:W3CDTF">2025-11-12T10:39:24Z</dcterms:created>
  <dcterms:modified xsi:type="dcterms:W3CDTF">2025-11-12T11:23:16Z</dcterms:modified>
</cp:coreProperties>
</file>